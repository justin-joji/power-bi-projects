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0D47A1"/>
    <a:srgbClr val="F5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C99A-A1D4-4A01-BF7C-FC72758E804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9750-CF52-4762-ADF8-A32ADE9E7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734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C99A-A1D4-4A01-BF7C-FC72758E804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9750-CF52-4762-ADF8-A32ADE9E7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446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C99A-A1D4-4A01-BF7C-FC72758E804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9750-CF52-4762-ADF8-A32ADE9E7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731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C99A-A1D4-4A01-BF7C-FC72758E804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9750-CF52-4762-ADF8-A32ADE9E7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426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C99A-A1D4-4A01-BF7C-FC72758E804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9750-CF52-4762-ADF8-A32ADE9E7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10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C99A-A1D4-4A01-BF7C-FC72758E804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9750-CF52-4762-ADF8-A32ADE9E7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906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C99A-A1D4-4A01-BF7C-FC72758E804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9750-CF52-4762-ADF8-A32ADE9E7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534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C99A-A1D4-4A01-BF7C-FC72758E804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9750-CF52-4762-ADF8-A32ADE9E7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67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C99A-A1D4-4A01-BF7C-FC72758E804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9750-CF52-4762-ADF8-A32ADE9E7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C99A-A1D4-4A01-BF7C-FC72758E804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9750-CF52-4762-ADF8-A32ADE9E7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038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C99A-A1D4-4A01-BF7C-FC72758E804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9750-CF52-4762-ADF8-A32ADE9E7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6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AC99A-A1D4-4A01-BF7C-FC72758E804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D9750-CF52-4762-ADF8-A32ADE9E7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173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F7D98E-2DE9-8725-1E69-3B3FB91D63FB}"/>
              </a:ext>
            </a:extLst>
          </p:cNvPr>
          <p:cNvSpPr txBox="1"/>
          <p:nvPr/>
        </p:nvSpPr>
        <p:spPr>
          <a:xfrm>
            <a:off x="1757516" y="2000863"/>
            <a:ext cx="8676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0070C0"/>
                </a:solidFill>
                <a:latin typeface="Bahnschrift SemiBold Condensed" panose="020B0502040204020203" pitchFamily="34" charset="0"/>
              </a:rPr>
              <a:t>Tata Cars Sales Performance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11F89-CB26-6543-9A6F-F1B821F3C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322" y="766557"/>
            <a:ext cx="1425677" cy="145807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20E004-AB79-C15E-080B-4B41F26014F0}"/>
              </a:ext>
            </a:extLst>
          </p:cNvPr>
          <p:cNvCxnSpPr/>
          <p:nvPr/>
        </p:nvCxnSpPr>
        <p:spPr>
          <a:xfrm>
            <a:off x="2359742" y="2989006"/>
            <a:ext cx="7570839" cy="0"/>
          </a:xfrm>
          <a:prstGeom prst="line">
            <a:avLst/>
          </a:prstGeom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0188CE7-7FA7-9EA9-2581-8585789F02BB}"/>
              </a:ext>
            </a:extLst>
          </p:cNvPr>
          <p:cNvSpPr txBox="1"/>
          <p:nvPr/>
        </p:nvSpPr>
        <p:spPr>
          <a:xfrm>
            <a:off x="4889048" y="6488668"/>
            <a:ext cx="251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Justin Joji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6393CE-23A7-8941-F81E-F92579C9BD25}"/>
              </a:ext>
            </a:extLst>
          </p:cNvPr>
          <p:cNvSpPr txBox="1"/>
          <p:nvPr/>
        </p:nvSpPr>
        <p:spPr>
          <a:xfrm>
            <a:off x="3782961" y="3059668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rgbClr val="0D47A1"/>
                </a:solidFill>
              </a:rPr>
              <a:t>Power BI Analysis of New &amp; Used Car Sales</a:t>
            </a:r>
          </a:p>
        </p:txBody>
      </p:sp>
    </p:spTree>
    <p:extLst>
      <p:ext uri="{BB962C8B-B14F-4D97-AF65-F5344CB8AC3E}">
        <p14:creationId xmlns:p14="http://schemas.microsoft.com/office/powerpoint/2010/main" val="2194529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4F54A1-A7E1-0DDA-DDBE-52B1FA526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140"/>
            <a:ext cx="540774" cy="553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14F117-BE5F-101D-876F-E1BF008872BE}"/>
              </a:ext>
            </a:extLst>
          </p:cNvPr>
          <p:cNvSpPr txBox="1"/>
          <p:nvPr/>
        </p:nvSpPr>
        <p:spPr>
          <a:xfrm>
            <a:off x="4438334" y="1485643"/>
            <a:ext cx="3315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u="sng" dirty="0">
                <a:solidFill>
                  <a:srgbClr val="0D47A1"/>
                </a:solidFill>
                <a:latin typeface="Bahnschrift SemiBold" panose="020B0502040204020203" pitchFamily="34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D22D7F-BB11-77AB-85E9-1A68F4451F41}"/>
              </a:ext>
            </a:extLst>
          </p:cNvPr>
          <p:cNvSpPr txBox="1"/>
          <p:nvPr/>
        </p:nvSpPr>
        <p:spPr>
          <a:xfrm>
            <a:off x="-35486" y="2696590"/>
            <a:ext cx="1226297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presents an interactive Power BI analysis of Tata Cars Sales, covering both new and pre-owned cars.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analysis is to identify sales trends, top performing models, segment performance, fuel preferences,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EV adoption levels and state wise demand patterns.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comprehensive sales data, the study includes data cleaning and correction to ensure accurate reporting.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dashboards developed provide actionable insights to support market planning, inventory management and regional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Strategy development.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379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0C84D0-F820-E916-5B2B-DA57FA574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140"/>
            <a:ext cx="540774" cy="553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E22CB3-8E6C-BF1D-4B5B-7C04413937E2}"/>
              </a:ext>
            </a:extLst>
          </p:cNvPr>
          <p:cNvSpPr txBox="1"/>
          <p:nvPr/>
        </p:nvSpPr>
        <p:spPr>
          <a:xfrm>
            <a:off x="4855918" y="1485643"/>
            <a:ext cx="2480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u="sng" dirty="0">
                <a:solidFill>
                  <a:srgbClr val="0D47A1"/>
                </a:solidFill>
                <a:latin typeface="Bahnschrift SemiBold" panose="020B0502040204020203" pitchFamily="34" charset="0"/>
              </a:rPr>
              <a:t>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3C3111-142E-BA17-119D-FCB0F3962F54}"/>
              </a:ext>
            </a:extLst>
          </p:cNvPr>
          <p:cNvSpPr txBox="1"/>
          <p:nvPr/>
        </p:nvSpPr>
        <p:spPr>
          <a:xfrm>
            <a:off x="176751" y="2598268"/>
            <a:ext cx="5919249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new and used car sales.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best selling models and segments.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 wise sales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fuel, transmission and EV trends.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raw data into business insights using Power BI.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046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CCDFD8-C85E-DE66-AC97-6577E4BAB729}"/>
              </a:ext>
            </a:extLst>
          </p:cNvPr>
          <p:cNvSpPr txBox="1"/>
          <p:nvPr/>
        </p:nvSpPr>
        <p:spPr>
          <a:xfrm>
            <a:off x="5073124" y="211392"/>
            <a:ext cx="2045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u="sng" dirty="0">
                <a:solidFill>
                  <a:srgbClr val="0070C0"/>
                </a:solidFill>
                <a:latin typeface="Bahnschrift SemiBold" panose="020B0502040204020203" pitchFamily="34" charset="0"/>
              </a:rPr>
              <a:t>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9BD9B4-089C-AA6B-F36A-4F465A721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140"/>
            <a:ext cx="540774" cy="5530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D6752B-E454-4071-CB8E-06D71B0C03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07" y="1090684"/>
            <a:ext cx="11087185" cy="38057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AA511D-0B5C-B993-F681-9BD18E195376}"/>
              </a:ext>
            </a:extLst>
          </p:cNvPr>
          <p:cNvSpPr txBox="1"/>
          <p:nvPr/>
        </p:nvSpPr>
        <p:spPr>
          <a:xfrm>
            <a:off x="176980" y="6367009"/>
            <a:ext cx="2477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Bahnschrift SemiBold" panose="020B0502040204020203" pitchFamily="34" charset="0"/>
              </a:rPr>
              <a:t>Total Entries : 100000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1326A-9F5B-F5B9-34AF-63E3F82A53B6}"/>
              </a:ext>
            </a:extLst>
          </p:cNvPr>
          <p:cNvSpPr txBox="1"/>
          <p:nvPr/>
        </p:nvSpPr>
        <p:spPr>
          <a:xfrm>
            <a:off x="9724104" y="6367009"/>
            <a:ext cx="2782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Bahnschrift SemiBold" panose="020B0502040204020203" pitchFamily="34" charset="0"/>
              </a:rPr>
              <a:t>Total Columns : 70</a:t>
            </a:r>
          </a:p>
        </p:txBody>
      </p:sp>
    </p:spTree>
    <p:extLst>
      <p:ext uri="{BB962C8B-B14F-4D97-AF65-F5344CB8AC3E}">
        <p14:creationId xmlns:p14="http://schemas.microsoft.com/office/powerpoint/2010/main" val="226946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11B1EE-8710-8E60-0345-CCC9F55AC3C0}"/>
              </a:ext>
            </a:extLst>
          </p:cNvPr>
          <p:cNvSpPr txBox="1"/>
          <p:nvPr/>
        </p:nvSpPr>
        <p:spPr>
          <a:xfrm>
            <a:off x="4657946" y="899651"/>
            <a:ext cx="28761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u="sng" dirty="0">
                <a:solidFill>
                  <a:srgbClr val="0070C0"/>
                </a:solidFill>
                <a:latin typeface="Bahnschrift SemiBold" panose="020B0502040204020203" pitchFamily="34" charset="0"/>
              </a:rPr>
              <a:t>KEY DETAILS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73E5BA-8CC5-96E6-8772-9D743A32C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140"/>
            <a:ext cx="540774" cy="553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8DB172-F8B9-87C2-93FA-6973AF5CF4D7}"/>
              </a:ext>
            </a:extLst>
          </p:cNvPr>
          <p:cNvSpPr txBox="1"/>
          <p:nvPr/>
        </p:nvSpPr>
        <p:spPr>
          <a:xfrm>
            <a:off x="107925" y="2124358"/>
            <a:ext cx="4624023" cy="4939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Tata Cars Sales 100k dataset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Markets Covered: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and Pre owned cars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Cars Model &amp; Body type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type &amp; Classifications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Type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and Region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Year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Unit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MSRP and Sales Price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Mileage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Units Count</a:t>
            </a:r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AE851-909F-8D00-D6C7-050572B29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4636"/>
            <a:ext cx="540774" cy="55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9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70C6B8-CF92-56AE-9140-49421E72F811}"/>
              </a:ext>
            </a:extLst>
          </p:cNvPr>
          <p:cNvSpPr txBox="1"/>
          <p:nvPr/>
        </p:nvSpPr>
        <p:spPr>
          <a:xfrm>
            <a:off x="3666823" y="1495475"/>
            <a:ext cx="4858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solidFill>
                  <a:srgbClr val="0D47A1"/>
                </a:solidFill>
                <a:latin typeface="Bahnschrift SemiBold" panose="020B0502040204020203" pitchFamily="34" charset="0"/>
              </a:rPr>
              <a:t>CHARTS AND CARDS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151041-73FC-5F32-67BD-DAD085C63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4636"/>
            <a:ext cx="540774" cy="553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A26E2E-3598-72C4-1E53-240D46B04D31}"/>
              </a:ext>
            </a:extLst>
          </p:cNvPr>
          <p:cNvSpPr txBox="1"/>
          <p:nvPr/>
        </p:nvSpPr>
        <p:spPr>
          <a:xfrm>
            <a:off x="270387" y="2802784"/>
            <a:ext cx="62582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: 19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Used for trend analysis and comparisons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Cards : 24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Display key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: 2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Provide detailed, row level data for drill down analysis</a:t>
            </a:r>
          </a:p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4A0EF-A13C-86AD-45B8-58D108D943D5}"/>
              </a:ext>
            </a:extLst>
          </p:cNvPr>
          <p:cNvSpPr txBox="1"/>
          <p:nvPr/>
        </p:nvSpPr>
        <p:spPr>
          <a:xfrm>
            <a:off x="2246670" y="6604084"/>
            <a:ext cx="76986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dirty="0"/>
              <a:t>All visuals are designed for quick insights and data driven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2084352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73E221-8AF8-CF00-C863-F5FDFE665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4636"/>
            <a:ext cx="540774" cy="553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E6D6FD-ABEA-8848-0AFE-65FDDF9D6BF7}"/>
              </a:ext>
            </a:extLst>
          </p:cNvPr>
          <p:cNvSpPr txBox="1"/>
          <p:nvPr/>
        </p:nvSpPr>
        <p:spPr>
          <a:xfrm>
            <a:off x="3666823" y="458428"/>
            <a:ext cx="4858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solidFill>
                  <a:srgbClr val="0D47A1"/>
                </a:solidFill>
                <a:latin typeface="Bahnschrift SemiBold" panose="020B0502040204020203" pitchFamily="34" charset="0"/>
              </a:rPr>
              <a:t>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44B12-7DCA-6BC5-EFD8-CF725D6F9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742" y="1245939"/>
            <a:ext cx="8996516" cy="50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177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3B4CAB-3D89-A7BE-30DE-17ABA7965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140"/>
            <a:ext cx="540774" cy="553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C73D8C-C8BB-6ED8-6CC6-621CC7181CCF}"/>
              </a:ext>
            </a:extLst>
          </p:cNvPr>
          <p:cNvSpPr txBox="1"/>
          <p:nvPr/>
        </p:nvSpPr>
        <p:spPr>
          <a:xfrm>
            <a:off x="4985760" y="620405"/>
            <a:ext cx="22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solidFill>
                  <a:srgbClr val="0D47A1"/>
                </a:solidFill>
                <a:latin typeface="Bahnschrift SemiBold" panose="020B0502040204020203" pitchFamily="34" charset="0"/>
              </a:rPr>
              <a:t>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18E91-241F-0AE9-3611-8BA8FFFE9A2A}"/>
              </a:ext>
            </a:extLst>
          </p:cNvPr>
          <p:cNvSpPr txBox="1"/>
          <p:nvPr/>
        </p:nvSpPr>
        <p:spPr>
          <a:xfrm>
            <a:off x="0" y="2205853"/>
            <a:ext cx="763125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Punch is the top selling model overall across both new and used markets.</a:t>
            </a:r>
          </a:p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20B62-DD0E-4DE6-D660-08CFA2604C2F}"/>
              </a:ext>
            </a:extLst>
          </p:cNvPr>
          <p:cNvSpPr txBox="1"/>
          <p:nvPr/>
        </p:nvSpPr>
        <p:spPr>
          <a:xfrm>
            <a:off x="0" y="1670892"/>
            <a:ext cx="537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D47A1"/>
                </a:solidFill>
                <a:latin typeface="Bahnschrift SemiBold" panose="020B0502040204020203" pitchFamily="34" charset="0"/>
              </a:rPr>
              <a:t>Key Analysis Outcomes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648F5A-55D9-E9DD-6D06-876AA4A4EF69}"/>
              </a:ext>
            </a:extLst>
          </p:cNvPr>
          <p:cNvSpPr txBox="1"/>
          <p:nvPr/>
        </p:nvSpPr>
        <p:spPr>
          <a:xfrm>
            <a:off x="0" y="2771591"/>
            <a:ext cx="5372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D47A1"/>
                </a:solidFill>
                <a:latin typeface="Bahnschrift SemiBold" panose="020B0502040204020203" pitchFamily="34" charset="0"/>
              </a:rPr>
              <a:t>New Car Segment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3B0794-F39B-B945-E17A-CEA19DFF6C85}"/>
              </a:ext>
            </a:extLst>
          </p:cNvPr>
          <p:cNvSpPr txBox="1"/>
          <p:nvPr/>
        </p:nvSpPr>
        <p:spPr>
          <a:xfrm>
            <a:off x="0" y="3233256"/>
            <a:ext cx="910448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Sedans lead, with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Tigor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 as the highest selling sedan.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Hatchback sales are increasing, driven mainly by Punch.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adoption remains limited, with only 6,576  EV units sold.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SUV sales are increasing due to growth in models like Nexon, Harrier, Safari and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Curvv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149D16-73D3-D0C5-FBD2-EE1B32215E6A}"/>
              </a:ext>
            </a:extLst>
          </p:cNvPr>
          <p:cNvSpPr txBox="1"/>
          <p:nvPr/>
        </p:nvSpPr>
        <p:spPr>
          <a:xfrm>
            <a:off x="0" y="4956275"/>
            <a:ext cx="5372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D47A1"/>
                </a:solidFill>
                <a:latin typeface="Bahnschrift SemiBold" panose="020B0502040204020203" pitchFamily="34" charset="0"/>
              </a:rPr>
              <a:t>Used Car Segment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5D04F2-B317-4B31-BEA2-485D2F1B5DB0}"/>
              </a:ext>
            </a:extLst>
          </p:cNvPr>
          <p:cNvSpPr txBox="1"/>
          <p:nvPr/>
        </p:nvSpPr>
        <p:spPr>
          <a:xfrm>
            <a:off x="0" y="5417940"/>
            <a:ext cx="10901702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Hatchbacks dominate used car sales, showing higher resale demand than SUVs and sedans.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sales surpass new EV sales, with 26,765 used Ev units sold, indicating stronger activity in used market.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Punch is the leading top selling car in Used market.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506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1DEE01-15C6-8308-CCAF-2112293B0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140"/>
            <a:ext cx="540774" cy="553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CA3F81-C9B2-C9FE-81E5-2F014C1CBFCE}"/>
              </a:ext>
            </a:extLst>
          </p:cNvPr>
          <p:cNvSpPr txBox="1"/>
          <p:nvPr/>
        </p:nvSpPr>
        <p:spPr>
          <a:xfrm>
            <a:off x="4985760" y="620405"/>
            <a:ext cx="22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solidFill>
                  <a:srgbClr val="0D47A1"/>
                </a:solidFill>
                <a:latin typeface="Bahnschrift SemiBold" panose="020B0502040204020203" pitchFamily="34" charset="0"/>
              </a:rPr>
              <a:t>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49D69-5A1B-0E28-C6B6-77233D6EBE59}"/>
              </a:ext>
            </a:extLst>
          </p:cNvPr>
          <p:cNvSpPr txBox="1"/>
          <p:nvPr/>
        </p:nvSpPr>
        <p:spPr>
          <a:xfrm>
            <a:off x="0" y="1680211"/>
            <a:ext cx="5372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D47A1"/>
                </a:solidFill>
                <a:latin typeface="Bahnschrift SemiBold" panose="020B0502040204020203" pitchFamily="34" charset="0"/>
              </a:rPr>
              <a:t>Fuel Type Trends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2F4682-4E15-B937-B2FF-8B35CE50A08B}"/>
              </a:ext>
            </a:extLst>
          </p:cNvPr>
          <p:cNvSpPr txBox="1"/>
          <p:nvPr/>
        </p:nvSpPr>
        <p:spPr>
          <a:xfrm>
            <a:off x="0" y="2141876"/>
            <a:ext cx="11106887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Petrol remains the most preferred fuel across both new and used cars.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Diesel and CNG steady demand.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cars represent an emerging segment with increasing adoption, particularly in the pre owned market.</a:t>
            </a:r>
          </a:p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7D3BA-6E27-C044-CEDB-4CEC2586632B}"/>
              </a:ext>
            </a:extLst>
          </p:cNvPr>
          <p:cNvSpPr txBox="1"/>
          <p:nvPr/>
        </p:nvSpPr>
        <p:spPr>
          <a:xfrm>
            <a:off x="0" y="3526870"/>
            <a:ext cx="5372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D47A1"/>
                </a:solidFill>
                <a:latin typeface="Bahnschrift SemiBold" panose="020B0502040204020203" pitchFamily="34" charset="0"/>
              </a:rPr>
              <a:t>State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3E18C9-62D6-11E1-F389-7E1354661C2A}"/>
              </a:ext>
            </a:extLst>
          </p:cNvPr>
          <p:cNvSpPr txBox="1"/>
          <p:nvPr/>
        </p:nvSpPr>
        <p:spPr>
          <a:xfrm>
            <a:off x="0" y="3988535"/>
            <a:ext cx="4917052" cy="458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Nadu records the highest sales volume.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B59AA6-826A-48F4-7C56-910469D494F0}"/>
              </a:ext>
            </a:extLst>
          </p:cNvPr>
          <p:cNvSpPr txBox="1"/>
          <p:nvPr/>
        </p:nvSpPr>
        <p:spPr>
          <a:xfrm>
            <a:off x="0" y="4542532"/>
            <a:ext cx="5372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D47A1"/>
                </a:solidFill>
                <a:latin typeface="Bahnschrift SemiBold" panose="020B0502040204020203" pitchFamily="34" charset="0"/>
              </a:rPr>
              <a:t>Mileage Performer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09990-F79B-96E1-EBF6-B76EC6840C55}"/>
              </a:ext>
            </a:extLst>
          </p:cNvPr>
          <p:cNvSpPr txBox="1"/>
          <p:nvPr/>
        </p:nvSpPr>
        <p:spPr>
          <a:xfrm>
            <a:off x="0" y="5000606"/>
            <a:ext cx="7366119" cy="458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Punch delivers the best mileage performance among leading models.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328550-ECCF-BCEA-C123-41140F6E17C0}"/>
              </a:ext>
            </a:extLst>
          </p:cNvPr>
          <p:cNvSpPr txBox="1"/>
          <p:nvPr/>
        </p:nvSpPr>
        <p:spPr>
          <a:xfrm>
            <a:off x="0" y="5458680"/>
            <a:ext cx="5372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D47A1"/>
                </a:solidFill>
                <a:latin typeface="Bahnschrift SemiBold" panose="020B0502040204020203" pitchFamily="34" charset="0"/>
              </a:rPr>
              <a:t>Yearly trend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71E452-983E-3EC9-14BE-DB815FE0EEEB}"/>
              </a:ext>
            </a:extLst>
          </p:cNvPr>
          <p:cNvSpPr txBox="1"/>
          <p:nvPr/>
        </p:nvSpPr>
        <p:spPr>
          <a:xfrm>
            <a:off x="-1" y="5779521"/>
            <a:ext cx="7355924" cy="458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2000 recorded the highest total sales volume making a peak year.</a:t>
            </a:r>
          </a:p>
        </p:txBody>
      </p:sp>
    </p:spTree>
    <p:extLst>
      <p:ext uri="{BB962C8B-B14F-4D97-AF65-F5344CB8AC3E}">
        <p14:creationId xmlns:p14="http://schemas.microsoft.com/office/powerpoint/2010/main" val="2568651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37939D-9E96-F3AC-9717-016707CFBE2B}"/>
              </a:ext>
            </a:extLst>
          </p:cNvPr>
          <p:cNvSpPr txBox="1"/>
          <p:nvPr/>
        </p:nvSpPr>
        <p:spPr>
          <a:xfrm>
            <a:off x="4985760" y="620405"/>
            <a:ext cx="22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solidFill>
                  <a:srgbClr val="0D47A1"/>
                </a:solidFill>
                <a:latin typeface="Bahnschrift SemiBold" panose="020B0502040204020203" pitchFamily="34" charset="0"/>
              </a:rPr>
              <a:t>FINDINGS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55397C-BCEC-FC78-9ED5-FFE7A234B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140"/>
            <a:ext cx="540774" cy="553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EEBD76-A284-A3BF-3E4B-59BECE65CB38}"/>
              </a:ext>
            </a:extLst>
          </p:cNvPr>
          <p:cNvSpPr txBox="1"/>
          <p:nvPr/>
        </p:nvSpPr>
        <p:spPr>
          <a:xfrm>
            <a:off x="0" y="1730506"/>
            <a:ext cx="5372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D47A1"/>
                </a:solidFill>
                <a:latin typeface="Bahnschrift SemiBold" panose="020B0502040204020203" pitchFamily="34" charset="0"/>
              </a:rPr>
              <a:t>Segment Insight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981B5-EF5A-766E-FBD0-E0C5A008E660}"/>
              </a:ext>
            </a:extLst>
          </p:cNvPr>
          <p:cNvSpPr txBox="1"/>
          <p:nvPr/>
        </p:nvSpPr>
        <p:spPr>
          <a:xfrm>
            <a:off x="0" y="2192171"/>
            <a:ext cx="8428589" cy="873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Sedans show the lowest overall market share compared to SUVs and hatchbacks.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Hatchback is the leading Segment</a:t>
            </a:r>
          </a:p>
        </p:txBody>
      </p:sp>
    </p:spTree>
    <p:extLst>
      <p:ext uri="{BB962C8B-B14F-4D97-AF65-F5344CB8AC3E}">
        <p14:creationId xmlns:p14="http://schemas.microsoft.com/office/powerpoint/2010/main" val="3163928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F65B51-D302-04B5-6B22-924975509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140"/>
            <a:ext cx="540774" cy="553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5780C7-C25D-07FC-7CD2-B15C532B2C4F}"/>
              </a:ext>
            </a:extLst>
          </p:cNvPr>
          <p:cNvSpPr txBox="1"/>
          <p:nvPr/>
        </p:nvSpPr>
        <p:spPr>
          <a:xfrm>
            <a:off x="4238106" y="1454202"/>
            <a:ext cx="371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solidFill>
                  <a:srgbClr val="0D47A1"/>
                </a:solidFill>
                <a:latin typeface="Bahnschrift SemiBold" panose="020B0502040204020203" pitchFamily="34" charset="0"/>
              </a:rPr>
              <a:t>IMPROVEMENTS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B09F5-82AF-C11A-05FE-4F7632AC8F14}"/>
              </a:ext>
            </a:extLst>
          </p:cNvPr>
          <p:cNvSpPr txBox="1"/>
          <p:nvPr/>
        </p:nvSpPr>
        <p:spPr>
          <a:xfrm>
            <a:off x="110531" y="2297249"/>
            <a:ext cx="9886361" cy="4108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production and promotion of Punch, as it is the highest-selling and best mileage model.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marketing campaigns in Tamil Nadu, the top sales performing state.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strategies to boost sedan sales, especially beyond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Tigor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new EV offerings and incentives to improve EV sales, as new EV sales remain low.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prioritizing petrol variants while continuing support for diesel and CNG segments.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automatic transmissions to meet changing customer preferences or increase automatic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transmission offerings.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availability of hatchback models in used car market where demand is highest.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4737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9C708D-C906-4C2E-8559-B14184D92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140"/>
            <a:ext cx="540774" cy="553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FC67DD-8725-58DA-1C79-E0CDE8142488}"/>
              </a:ext>
            </a:extLst>
          </p:cNvPr>
          <p:cNvSpPr txBox="1"/>
          <p:nvPr/>
        </p:nvSpPr>
        <p:spPr>
          <a:xfrm>
            <a:off x="4238106" y="1454202"/>
            <a:ext cx="371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solidFill>
                  <a:srgbClr val="0D47A1"/>
                </a:solidFill>
                <a:latin typeface="Bahnschrift SemiBold" panose="020B0502040204020203" pitchFamily="34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5B9DF-1D13-0363-63FB-9E10F5AA1045}"/>
              </a:ext>
            </a:extLst>
          </p:cNvPr>
          <p:cNvSpPr txBox="1"/>
          <p:nvPr/>
        </p:nvSpPr>
        <p:spPr>
          <a:xfrm>
            <a:off x="110531" y="2297249"/>
            <a:ext cx="11666976" cy="2120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provides a clear view of Tata Car Sales (2000-2025).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providing a long term insights into market trends, customer preferences, and model performance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across new and used cars.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deliver actionable insights that can guide production planning and marketing focus for improved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2999497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BE56BE-2510-0D95-F4A9-A3E1AFEF1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140"/>
            <a:ext cx="540774" cy="553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38DCEC-BE03-EF3A-74AD-7FAE0098927E}"/>
              </a:ext>
            </a:extLst>
          </p:cNvPr>
          <p:cNvSpPr txBox="1"/>
          <p:nvPr/>
        </p:nvSpPr>
        <p:spPr>
          <a:xfrm>
            <a:off x="4238106" y="1454202"/>
            <a:ext cx="371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solidFill>
                  <a:srgbClr val="0D47A1"/>
                </a:solidFill>
                <a:latin typeface="Bahnschrift SemiBold" panose="020B0502040204020203" pitchFamily="34" charset="0"/>
              </a:rPr>
              <a:t>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37ABAE-A130-E796-1DE8-1394C26D1DE5}"/>
              </a:ext>
            </a:extLst>
          </p:cNvPr>
          <p:cNvSpPr txBox="1"/>
          <p:nvPr/>
        </p:nvSpPr>
        <p:spPr>
          <a:xfrm>
            <a:off x="110531" y="2641378"/>
            <a:ext cx="5030416" cy="1133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: Kaggle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: Microsoft Power BI</a:t>
            </a:r>
          </a:p>
        </p:txBody>
      </p:sp>
    </p:spTree>
    <p:extLst>
      <p:ext uri="{BB962C8B-B14F-4D97-AF65-F5344CB8AC3E}">
        <p14:creationId xmlns:p14="http://schemas.microsoft.com/office/powerpoint/2010/main" val="2439743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EAFA7F-10EF-FE7A-E603-6474C1E8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140"/>
            <a:ext cx="540774" cy="553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F9A363-D1FC-4C04-8D0C-1A531A13343D}"/>
              </a:ext>
            </a:extLst>
          </p:cNvPr>
          <p:cNvSpPr txBox="1"/>
          <p:nvPr/>
        </p:nvSpPr>
        <p:spPr>
          <a:xfrm>
            <a:off x="2025445" y="2476758"/>
            <a:ext cx="81411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b="1" dirty="0">
                <a:solidFill>
                  <a:srgbClr val="0D47A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THANK 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5537E-B857-8EA3-AF17-4522D9851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610" y="487924"/>
            <a:ext cx="1534780" cy="15696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9A8431-537B-46C9-7A06-1BAD5D20656D}"/>
              </a:ext>
            </a:extLst>
          </p:cNvPr>
          <p:cNvSpPr txBox="1"/>
          <p:nvPr/>
        </p:nvSpPr>
        <p:spPr>
          <a:xfrm>
            <a:off x="3733800" y="1872918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rgbClr val="0D47A1"/>
                </a:solidFill>
              </a:rPr>
              <a:t>Power BI Analysis of Tata New &amp; Used Car Sales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63AEC7-166F-0195-A32C-49AFEE75CB58}"/>
              </a:ext>
            </a:extLst>
          </p:cNvPr>
          <p:cNvSpPr txBox="1"/>
          <p:nvPr/>
        </p:nvSpPr>
        <p:spPr>
          <a:xfrm>
            <a:off x="4889048" y="6488668"/>
            <a:ext cx="251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Justin Joji</a:t>
            </a:r>
          </a:p>
        </p:txBody>
      </p:sp>
    </p:spTree>
    <p:extLst>
      <p:ext uri="{BB962C8B-B14F-4D97-AF65-F5344CB8AC3E}">
        <p14:creationId xmlns:p14="http://schemas.microsoft.com/office/powerpoint/2010/main" val="3924193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152</TotalTime>
  <Words>653</Words>
  <Application>Microsoft Office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Aparajita</vt:lpstr>
      <vt:lpstr>Arial</vt:lpstr>
      <vt:lpstr>Bahnschrift SemiBold</vt:lpstr>
      <vt:lpstr>Bahnschrift SemiBold Condensed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Joji</dc:creator>
  <cp:lastModifiedBy>Justin Joji</cp:lastModifiedBy>
  <cp:revision>1</cp:revision>
  <dcterms:created xsi:type="dcterms:W3CDTF">2025-12-03T18:16:59Z</dcterms:created>
  <dcterms:modified xsi:type="dcterms:W3CDTF">2025-12-03T20:49:35Z</dcterms:modified>
</cp:coreProperties>
</file>